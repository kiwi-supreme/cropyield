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F6B3A"/>
            </a:solidFill>
          </c:spPr>
          <c:cat>
            <c:strRef>
              <c:f>Sheet1!$A$2:$A$6</c:f>
              <c:strCache>
                <c:ptCount val="5"/>
                <c:pt idx="0">
                  <c:v>Baseline (location history)</c:v>
                </c:pt>
                <c:pt idx="1">
                  <c:v>Logistic Regression</c:v>
                </c:pt>
                <c:pt idx="2">
                  <c:v>Random Forest</c:v>
                </c:pt>
                <c:pt idx="3">
                  <c:v>XGBoost</c:v>
                </c:pt>
                <c:pt idx="4">
                  <c:v>Random Forest (tuned)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0.623</c:v>
                </c:pt>
                <c:pt idx="1">
                  <c:v>0.656</c:v>
                </c:pt>
                <c:pt idx="2">
                  <c:v>0.639</c:v>
                </c:pt>
                <c:pt idx="3">
                  <c:v>0.65</c:v>
                </c:pt>
                <c:pt idx="4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A8B8A6"/>
            </a:solidFill>
          </c:spPr>
          <c:cat>
            <c:strRef>
              <c:f>Sheet1!$A$2:$A$6</c:f>
              <c:strCache>
                <c:ptCount val="5"/>
                <c:pt idx="0">
                  <c:v>Baseline (location history)</c:v>
                </c:pt>
                <c:pt idx="1">
                  <c:v>Logistic Regression</c:v>
                </c:pt>
                <c:pt idx="2">
                  <c:v>Random Forest</c:v>
                </c:pt>
                <c:pt idx="3">
                  <c:v>XGBoost</c:v>
                </c:pt>
                <c:pt idx="4">
                  <c:v>Random Forest (tuned)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0.617</c:v>
                </c:pt>
                <c:pt idx="1">
                  <c:v>0.649</c:v>
                </c:pt>
                <c:pt idx="2">
                  <c:v>0.631</c:v>
                </c:pt>
                <c:pt idx="3">
                  <c:v>0.642</c:v>
                </c:pt>
                <c:pt idx="4">
                  <c:v>0.633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problem: farmers and planners want to know, before or early in a season, whether a crop is likely to do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main deliverable is the yield outlook. Disease detection supports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top row first, then the bottom row, then the link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Sentinel-2 starts in 2015, so MODIS NDVI is used to get a 2001-2017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coverage differs by crop: wheat is mostly northern, cotton western, and so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tercile labels: each crop's bottom third is Poor, middle Average, top third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anomaly features tell the model how unusual this season is for this district.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random split would leak neighbouring years into the test set, so the split is by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table, then explain that AUC measures ranking ability, which is why it matters for a likelihood.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farmer cares how far to trust a 70 percent Good. This table answers that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the regressor is not far better than the district's own past average. The value is in the weather response and the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PlantVillage photos are lab-style and near-duplicates may cross the split, so field accuracy will be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clear which link is measured on data (the satellite check) and which uses assumed loss factors (the disease adjustment).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page live if possible: python server.py, then open localhost:8000.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these plainly; they are part of an honest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main result and the honest caveats.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iwi-Supreme" TargetMode="External"/><Relationship Id="rId3" Type="http://schemas.openxmlformats.org/officeDocument/2006/relationships/hyperlink" Target="https://github.com/Kiwi-Supreme/CropYield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Kiwi-Supreme/CropYiel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1F4D2B"/>
                </a:solidFill>
                <a:latin typeface="Calibri"/>
              </a:rPr>
              <a:t>Crop Yield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Predicting how likely a good yield is, from the crop, the location and the season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Shivani Srivastava  |  23BDS0085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Predictive Analysis  |  Supporting component: leaf disease identification</a:t>
            </a:r>
          </a:p>
          <a:p>
            <a:pPr algn="l">
              <a:spcAft>
                <a:spcPts val="600"/>
              </a:spcAft>
            </a:pPr>
            <a:r>
              <a:rPr sz="1600" b="0" u="sng">
                <a:solidFill>
                  <a:srgbClr val="2F6B3A"/>
                </a:solidFill>
                <a:latin typeface="Calibri"/>
                <a:hlinkClick r:id="rId2"/>
              </a:rPr>
              <a:t>GitHub profile: github.com/Kiwi-Supreme</a:t>
            </a:r>
          </a:p>
          <a:p>
            <a:pPr algn="l">
              <a:spcAft>
                <a:spcPts val="600"/>
              </a:spcAft>
            </a:pPr>
            <a:r>
              <a:rPr sz="1600" b="0" u="sng">
                <a:solidFill>
                  <a:srgbClr val="2F6B3A"/>
                </a:solidFill>
                <a:latin typeface="Calibri"/>
                <a:hlinkClick r:id="rId3"/>
              </a:rPr>
              <a:t>Project code: github.com/Kiwi-Supreme/CropYield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What the system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Three inputs from the user, one answer they can act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Calibri"/>
              </a:rPr>
              <a:t>1  Crop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Calibri"/>
              </a:rPr>
              <a:t>2  Location (state, district)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2900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Calibri"/>
              </a:rPr>
              <a:t>3  Season (Kharif / Rabi)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2743200"/>
            <a:ext cx="640080" cy="5029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78308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1F4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Yield model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trained on 2001-2017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district records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2743200"/>
            <a:ext cx="640080" cy="5029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0" y="178308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P(Good)  P(Average)  P(Poor)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60604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22222"/>
                </a:solidFill>
                <a:latin typeface="Calibri"/>
              </a:rPr>
              <a:t>Expected yield (kg/ha) with a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42900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22222"/>
                </a:solidFill>
                <a:latin typeface="Calibri"/>
              </a:rPr>
              <a:t>The main reasons behind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110642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b="1" sz="1600">
                <a:solidFill>
                  <a:srgbClr val="222222"/>
                </a:solidFill>
                <a:latin typeface="Calibri"/>
              </a:rPr>
              <a:t>Objective:</a:t>
            </a:r>
            <a:r>
              <a:rPr sz="1600">
                <a:solidFill>
                  <a:srgbClr val="222222"/>
                </a:solidFill>
                <a:latin typeface="Calibri"/>
              </a:rPr>
              <a:t> detect crop disease from leaf images and predict how good the crop yield will be, using weather and satellite data.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b="1" sz="1600">
                <a:solidFill>
                  <a:srgbClr val="222222"/>
                </a:solidFill>
                <a:latin typeface="Calibri"/>
              </a:rPr>
              <a:t>Focus:</a:t>
            </a:r>
            <a:r>
              <a:rPr sz="1600">
                <a:solidFill>
                  <a:srgbClr val="222222"/>
                </a:solidFill>
                <a:latin typeface="Calibri"/>
              </a:rPr>
              <a:t> the yield outlook is the main result. Leaf disease identification supports it where leaf photos are available.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b="1" sz="1600">
                <a:solidFill>
                  <a:srgbClr val="222222"/>
                </a:solidFill>
                <a:latin typeface="Calibri"/>
              </a:rPr>
              <a:t>Why it helps:</a:t>
            </a:r>
            <a:r>
              <a:rPr sz="1600">
                <a:solidFill>
                  <a:srgbClr val="222222"/>
                </a:solidFill>
                <a:latin typeface="Calibri"/>
              </a:rPr>
              <a:t> farmers and planners can see risk early and decide on irrigation, inputs and scouting.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A main yield pipeline and a supporting disease pipeline that feeds back into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D2B"/>
                </a:solidFill>
                <a:latin typeface="Calibri"/>
              </a:rPr>
              <a:t>Main: yield outlook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Calibri"/>
              </a:rPr>
              <a:t>Crop + location + season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user input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44368" y="246888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20574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Calibri"/>
              </a:rPr>
              <a:t>Seasonal features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weather, NDVI, climate normals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70448" y="246888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0574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Calibri"/>
              </a:rPr>
              <a:t>Classifier + regressor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Random Forest / XGBoost / Logistic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96528" y="246888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0" y="20574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Calibri"/>
              </a:rPr>
              <a:t>Likelihood of Good, Average, Poor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plus expected yield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D2B"/>
                </a:solidFill>
                <a:latin typeface="Calibri"/>
              </a:rPr>
              <a:t>Supporting: leaf disease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Calibri"/>
              </a:rPr>
              <a:t>Leaf photo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taken while scouting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944368" y="461772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42062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Calibri"/>
              </a:rPr>
              <a:t>MobileNetV2 CNN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transfer learning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70448" y="461772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42062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Calibri"/>
              </a:rPr>
              <a:t>Disease class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share of infected leaves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528" y="461772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0" y="42062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222"/>
                </a:solidFill>
                <a:latin typeface="Calibri"/>
              </a:rPr>
              <a:t>Adjusted outlook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assumed yield loss applied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Only maize has leaf images in PlantVillage, so the combined step is demonstrated for maize.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Four public sources, all downloaded and cached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3017520"/>
                <a:gridCol w="3566160"/>
                <a:gridCol w="265176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Crop yields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ICRISAT district database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13 crops, 47 districts, 2001-2017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Target: how good a yield was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Weather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NASA POWER (daily)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Rain, temperature, humidity, solar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Seasonal weather features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Vegetation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MODIS NDVI, 16-day, 250 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Greenness around each district centre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Seasonal satellite features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Leaf images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PlantVillage, maize classes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3,852 photos, 4 classes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Disease CNN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Sentinel-2 vs MODIS:</a:t>
            </a:r>
            <a:r>
              <a:rPr sz="1500">
                <a:solidFill>
                  <a:srgbClr val="222222"/>
                </a:solidFill>
                <a:latin typeface="Calibri"/>
              </a:rPr>
              <a:t> the proposal names Sentinel-2, which only starts in 2015. MODIS gives the same NDVI index back to 2000, so it was used for training.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Final table:</a:t>
            </a:r>
            <a:r>
              <a:rPr sz="1500">
                <a:solidFill>
                  <a:srgbClr val="222222"/>
                </a:solidFill>
                <a:latin typeface="Calibri"/>
              </a:rPr>
              <a:t> 8,394 rows, one per crop, district, season and year (6,451 for training, 1,943 for testing).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Study area and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47 districts in 15 states, 13 crops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coverage_and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22783"/>
            <a:ext cx="11064240" cy="36353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85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Left: number of district-years per crop and state. Right: location of the districts.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Defining a “good” yield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Good has to mean good for that crop, and yields rise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Remove the trend.</a:t>
            </a:r>
            <a:r>
              <a:rPr sz="1500">
                <a:solidFill>
                  <a:srgbClr val="222222"/>
                </a:solidFill>
                <a:latin typeface="Calibri"/>
              </a:rPr>
              <a:t> better seeds and inputs lift yields every year, so each yield is divided by its crop's trend.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Split into thirds.</a:t>
            </a:r>
            <a:r>
              <a:rPr sz="1500">
                <a:solidFill>
                  <a:srgbClr val="222222"/>
                </a:solidFill>
                <a:latin typeface="Calibri"/>
              </a:rPr>
              <a:t> for each crop, the bottom third of trend-adjusted yields is Poor, the middle Average, the top third Good.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3035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Training years only.</a:t>
            </a:r>
            <a:r>
              <a:rPr sz="1500">
                <a:solidFill>
                  <a:srgbClr val="222222"/>
                </a:solidFill>
                <a:latin typeface="Calibri"/>
              </a:rPr>
              <a:t> thresholds come from 2001-2013, so no test year influences the labels.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Location matters.</a:t>
            </a:r>
            <a:r>
              <a:rPr sz="1500">
                <a:solidFill>
                  <a:srgbClr val="222222"/>
                </a:solidFill>
                <a:latin typeface="Calibri"/>
              </a:rPr>
              <a:t> thirds are taken across districts, so a naturally productive district is often Good, and weather moves it up or down.</a:t>
            </a:r>
          </a:p>
        </p:txBody>
      </p:sp>
      <p:pic>
        <p:nvPicPr>
          <p:cNvPr id="8" name="Picture 7" descr="yield_distribution_lab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0" y="3383280"/>
            <a:ext cx="975360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7103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Yield by crop, label balance, and the upward trend that the labels correct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What the model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67 inputs built for each crop, district, season and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5852160"/>
                <a:gridCol w="310896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Season weather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Total rain, rain by season stage, dry spell, rainy days, temperature, hot days, humidity, sunshine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Water and heat at the right stage drive yield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Satellite (NDVI)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Average, peak and lowest greenness, timing of the peak, early-season greenness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Shows how well the crop actually grew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Each of the above minus the district's normal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Is this season unusual for this place?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Latitude, longitude, state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Captures climate and soil differences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Past yield level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District's earlier trend-adjusted yield for the crop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Productive districts stay productive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Crop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One-hot for 13 crops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Crops respond differently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Past yield uses leave-one-year-out inside training years, so a row never sees its own yield.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Method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Chronological split: train on the past, test on years the model has not seen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Split.</a:t>
            </a:r>
            <a:r>
              <a:rPr sz="1500">
                <a:solidFill>
                  <a:srgbClr val="222222"/>
                </a:solidFill>
                <a:latin typeface="Calibri"/>
              </a:rPr>
              <a:t> train 2001-2013 (6,451 rows), test 2014-2017 (1,943 rows), about an 80/20 split in time.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Baseline.</a:t>
            </a:r>
            <a:r>
              <a:rPr sz="1500">
                <a:solidFill>
                  <a:srgbClr val="222222"/>
                </a:solidFill>
                <a:latin typeface="Calibri"/>
              </a:rPr>
              <a:t> predict each district's most common past label for the crop. Any model must beat this.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Models.</a:t>
            </a:r>
            <a:r>
              <a:rPr sz="1500">
                <a:solidFill>
                  <a:srgbClr val="222222"/>
                </a:solidFill>
                <a:latin typeface="Calibri"/>
              </a:rPr>
              <a:t> Logistic Regression, Random Forest (tuned), XGBoost.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Tuning.</a:t>
            </a:r>
            <a:r>
              <a:rPr sz="1500">
                <a:solidFill>
                  <a:srgbClr val="222222"/>
                </a:solidFill>
                <a:latin typeface="Calibri"/>
              </a:rPr>
              <a:t> grid search validated on 2010-2013, fitting only on earlier years.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Regression.</a:t>
            </a:r>
            <a:r>
              <a:rPr sz="1500">
                <a:solidFill>
                  <a:srgbClr val="222222"/>
                </a:solidFill>
                <a:latin typeface="Calibri"/>
              </a:rPr>
              <a:t> a Random Forest regressor gives the expected yield.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D2B"/>
                </a:solidFill>
                <a:latin typeface="Calibri"/>
              </a:rPr>
              <a:t>Metrics used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103120"/>
          <a:ext cx="521208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3291840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Poor / Average / Good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Accuracy, precision, recall, F1, confusion matrix, AUC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Probability quality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Log-loss, calibration of P(Good)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Expected yield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MAE, RMSE, R²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Results: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Best model: Logistic Regression, accuracy 65.6% against a 62.3% location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640080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737360"/>
          <a:ext cx="4389120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914400"/>
                <a:gridCol w="10972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Log-loss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Baseline (location history)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Random Forest (tuned)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23760" y="4343400"/>
            <a:ext cx="43891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Test set: 1,943 crop-district-seasons from 2014-2017. Random guessing would give 33%.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When to trust a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Accuracy rises with the model's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47548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37160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 confidence at least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Share of cases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47548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b="1" sz="1400">
                <a:solidFill>
                  <a:srgbClr val="222222"/>
                </a:solidFill>
                <a:latin typeface="Calibri"/>
              </a:rPr>
              <a:t>Use confident predictions.</a:t>
            </a:r>
            <a:r>
              <a:rPr sz="1400">
                <a:solidFill>
                  <a:srgbClr val="222222"/>
                </a:solidFill>
                <a:latin typeface="Calibri"/>
              </a:rPr>
              <a:t> the more certain the model, the more often it is right.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b="1" sz="1400">
                <a:solidFill>
                  <a:srgbClr val="222222"/>
                </a:solidFill>
                <a:latin typeface="Calibri"/>
              </a:rPr>
              <a:t>Be cautious on Average.</a:t>
            </a:r>
            <a:r>
              <a:rPr sz="1400">
                <a:solidFill>
                  <a:srgbClr val="222222"/>
                </a:solidFill>
                <a:latin typeface="Calibri"/>
              </a:rPr>
              <a:t> the middle class is the hardest to separate.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b="1" sz="1400">
                <a:solidFill>
                  <a:srgbClr val="222222"/>
                </a:solidFill>
                <a:latin typeface="Calibri"/>
              </a:rPr>
              <a:t>History dominates.</a:t>
            </a:r>
            <a:r>
              <a:rPr sz="1400">
                <a:solidFill>
                  <a:srgbClr val="222222"/>
                </a:solidFill>
                <a:latin typeface="Calibri"/>
              </a:rPr>
              <a:t> the district's own past yield matters most; weather and NDVI add a modest gain on top.</a:t>
            </a:r>
          </a:p>
        </p:txBody>
      </p:sp>
      <p:pic>
        <p:nvPicPr>
          <p:cNvPr id="8" name="Picture 7" descr="feature_importance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050025"/>
            <a:ext cx="5852160" cy="33980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5475486"/>
            <a:ext cx="5852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Permutation importance on the test years, by group of inputs.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Expected yield (kg/ha)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Better than the district’s past average on RMSE and R² (0.70 vs 0.66), about equal on MAE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5120640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1645920"/>
                <a:gridCol w="17373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District's past average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MAE (kg/ha)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414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RMSE (kg/ha)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742.16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792.43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512064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b="1" sz="1400">
                <a:solidFill>
                  <a:srgbClr val="222222"/>
                </a:solidFill>
                <a:latin typeface="Calibri"/>
              </a:rPr>
              <a:t>Range, not just a number.</a:t>
            </a:r>
            <a:r>
              <a:rPr sz="1400">
                <a:solidFill>
                  <a:srgbClr val="222222"/>
                </a:solidFill>
                <a:latin typeface="Calibri"/>
              </a:rPr>
              <a:t> each estimate comes with an 80% range from the model's spread.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b="1" sz="1400">
                <a:solidFill>
                  <a:srgbClr val="222222"/>
                </a:solidFill>
                <a:latin typeface="Calibri"/>
              </a:rPr>
              <a:t>Scenarios.</a:t>
            </a:r>
            <a:r>
              <a:rPr sz="1400">
                <a:solidFill>
                  <a:srgbClr val="222222"/>
                </a:solidFill>
                <a:latin typeface="Calibri"/>
              </a:rPr>
              <a:t> dry, normal and wet seasons use real past seasons of that district.</a:t>
            </a:r>
          </a:p>
        </p:txBody>
      </p:sp>
      <p:pic>
        <p:nvPicPr>
          <p:cNvPr id="8" name="Picture 7" descr="yield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06171"/>
            <a:ext cx="5760720" cy="42686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Supporting component: leaf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MobileNetV2 transfer learning reaches 93.9% on held-out maize leaves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Data.</a:t>
            </a:r>
            <a:r>
              <a:rPr sz="1500">
                <a:solidFill>
                  <a:srgbClr val="222222"/>
                </a:solidFill>
                <a:latin typeface="Calibri"/>
              </a:rPr>
              <a:t> 3,852 PlantVillage maize leaves: gray leaf spot, common rust, northern leaf blight, healthy.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Model.</a:t>
            </a:r>
            <a:r>
              <a:rPr sz="1500">
                <a:solidFill>
                  <a:srgbClr val="222222"/>
                </a:solidFill>
                <a:latin typeface="Calibri"/>
              </a:rPr>
              <a:t> ImageNet MobileNetV2, new classification head, then the last block fine-tuned.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Test.</a:t>
            </a:r>
            <a:r>
              <a:rPr sz="1500">
                <a:solidFill>
                  <a:srgbClr val="222222"/>
                </a:solidFill>
                <a:latin typeface="Calibri"/>
              </a:rPr>
              <a:t> 771 unseen photos, 80/20 stratified split.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Caution.</a:t>
            </a:r>
            <a:r>
              <a:rPr sz="1500">
                <a:solidFill>
                  <a:srgbClr val="222222"/>
                </a:solidFill>
                <a:latin typeface="Calibri"/>
              </a:rPr>
              <a:t> lab-style photos on plain backgrounds. Several photos of one leaf may sit on both sides of the split, so field accuracy will be lower.</a:t>
            </a:r>
          </a:p>
        </p:txBody>
      </p:sp>
      <p:pic>
        <p:nvPicPr>
          <p:cNvPr id="7" name="Picture 6" descr="disease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881" y="1645920"/>
            <a:ext cx="5343276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6062472"/>
            <a:ext cx="5760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Confusion matrix on the held-out leaves.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Connecting the two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The satellite flag is only a weak signal at district level; leaf photos add the missing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D2B"/>
                </a:solidFill>
                <a:latin typeface="Calibri"/>
              </a:rPr>
              <a:t>Link 1: satellite warning, tested on real maize data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548640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914400"/>
                <a:gridCol w="914400"/>
                <a:gridCol w="10058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Peak NDVI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Seasons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Poor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 anchor="ctr" marL="73152" marR="73152">
                    <a:solidFill>
                      <a:srgbClr val="1F4D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NDVI normal/high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620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NDVI stress flag (z &lt; -1)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anchor="ctr" marL="73152" marR="73152">
                    <a:solidFill>
                      <a:srgbClr val="F1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474720"/>
            <a:ext cx="5486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Correlation of NDVI anomaly with yield anomaly: r = 0.03. Flagged seasons are Poor only slightly more often, so district-level NDVI is a noisy warning.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D2B"/>
                </a:solidFill>
                <a:latin typeface="Calibri"/>
              </a:rPr>
              <a:t>Link 2: disease evidence adjusts the outlook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548640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500"/>
              </a:spcAft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Scout and classify leaves, then count the share infected.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Share times an assumed loss per disease gives an expected yield loss.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The loss factors are demo assumptions, not fitted from data.</a:t>
            </a:r>
          </a:p>
        </p:txBody>
      </p:sp>
      <p:pic>
        <p:nvPicPr>
          <p:cNvPr id="11" name="Picture 10" descr="integrated_outl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80894"/>
            <a:ext cx="5394960" cy="24277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036058"/>
            <a:ext cx="5394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Maize in Ananthapur: outlook before and after disease evidence (assumed loss 7%).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Using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66666"/>
                </a:solidFill>
                <a:latin typeface="Calibri"/>
              </a:rPr>
              <a:t>Pick a crop, a place and a season in the web page and read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app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763" y="1600200"/>
            <a:ext cx="366591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737360"/>
            <a:ext cx="48463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Three inputs.</a:t>
            </a:r>
            <a:r>
              <a:rPr sz="1500">
                <a:solidFill>
                  <a:srgbClr val="222222"/>
                </a:solidFill>
                <a:latin typeface="Calibri"/>
              </a:rPr>
              <a:t> crop, state and district, season (set from the crop).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Optional.</a:t>
            </a:r>
            <a:r>
              <a:rPr sz="1500">
                <a:solidFill>
                  <a:srgbClr val="222222"/>
                </a:solidFill>
                <a:latin typeface="Calibri"/>
              </a:rPr>
              <a:t> a dry or wet season, a past year to replay, or a leaf disease seen on maize.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Output.</a:t>
            </a:r>
            <a:r>
              <a:rPr sz="1500">
                <a:solidFill>
                  <a:srgbClr val="222222"/>
                </a:solidFill>
                <a:latin typeface="Calibri"/>
              </a:rPr>
              <a:t> probability bars, the most likely class, expected yield with a range, and the reasons.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b="1" sz="1500">
                <a:solidFill>
                  <a:srgbClr val="222222"/>
                </a:solidFill>
                <a:latin typeface="Calibri"/>
              </a:rPr>
              <a:t>Run it.</a:t>
            </a:r>
            <a:r>
              <a:rPr sz="1500">
                <a:solidFill>
                  <a:srgbClr val="222222"/>
                </a:solidFill>
                <a:latin typeface="Calibri"/>
              </a:rPr>
              <a:t> python server.py, then open localhost:8000.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D2B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100"/>
              </a:spcAft>
              <a:buChar char="•"/>
            </a:pPr>
            <a:r>
              <a:rPr b="1" sz="1700">
                <a:solidFill>
                  <a:srgbClr val="222222"/>
                </a:solidFill>
                <a:latin typeface="Calibri"/>
              </a:rPr>
              <a:t>District-level yields,</a:t>
            </a:r>
            <a:r>
              <a:rPr sz="1700">
                <a:solidFill>
                  <a:srgbClr val="222222"/>
                </a:solidFill>
                <a:latin typeface="Calibri"/>
              </a:rPr>
              <a:t> not field-level, and one small NDVI box per district.</a:t>
            </a:r>
          </a:p>
          <a:p>
            <a:pPr marL="285750" indent="-285750">
              <a:spcAft>
                <a:spcPts val="1100"/>
              </a:spcAft>
              <a:buChar char="•"/>
            </a:pPr>
            <a:r>
              <a:rPr b="1" sz="1700">
                <a:solidFill>
                  <a:srgbClr val="222222"/>
                </a:solidFill>
                <a:latin typeface="Calibri"/>
              </a:rPr>
              <a:t>Season conditions are unknown in advance,</a:t>
            </a:r>
            <a:r>
              <a:rPr sz="1700">
                <a:solidFill>
                  <a:srgbClr val="222222"/>
                </a:solidFill>
                <a:latin typeface="Calibri"/>
              </a:rPr>
              <a:t> so typical / dry / wet scenarios stand in for a forecast.</a:t>
            </a:r>
          </a:p>
          <a:p>
            <a:pPr marL="285750" indent="-285750">
              <a:spcAft>
                <a:spcPts val="1100"/>
              </a:spcAft>
              <a:buChar char="•"/>
            </a:pPr>
            <a:r>
              <a:rPr b="1" sz="1700">
                <a:solidFill>
                  <a:srgbClr val="222222"/>
                </a:solidFill>
                <a:latin typeface="Calibri"/>
              </a:rPr>
              <a:t>Labels are relative</a:t>
            </a:r>
            <a:r>
              <a:rPr sz="1700">
                <a:solidFill>
                  <a:srgbClr val="222222"/>
                </a:solidFill>
                <a:latin typeface="Calibri"/>
              </a:rPr>
              <a:t> to each crop's spread across districts.</a:t>
            </a:r>
          </a:p>
          <a:p>
            <a:pPr marL="285750" indent="-285750">
              <a:spcAft>
                <a:spcPts val="1100"/>
              </a:spcAft>
              <a:buChar char="•"/>
            </a:pPr>
            <a:r>
              <a:rPr b="1" sz="1700">
                <a:solidFill>
                  <a:srgbClr val="222222"/>
                </a:solidFill>
                <a:latin typeface="Calibri"/>
              </a:rPr>
              <a:t>Disease link uses assumed losses.</a:t>
            </a:r>
            <a:r>
              <a:rPr sz="1700">
                <a:solidFill>
                  <a:srgbClr val="222222"/>
                </a:solidFill>
                <a:latin typeface="Calibri"/>
              </a:rPr>
              <a:t> No public data ties leaf photos to yields.</a:t>
            </a:r>
          </a:p>
          <a:p>
            <a:pPr marL="285750" indent="-285750">
              <a:spcAft>
                <a:spcPts val="1100"/>
              </a:spcAft>
              <a:buChar char="•"/>
            </a:pPr>
            <a:r>
              <a:rPr b="1" sz="1700">
                <a:solidFill>
                  <a:srgbClr val="222222"/>
                </a:solidFill>
                <a:latin typeface="Calibri"/>
              </a:rPr>
              <a:t>Lab-style leaf photos</a:t>
            </a:r>
            <a:r>
              <a:rPr sz="1700">
                <a:solidFill>
                  <a:srgbClr val="222222"/>
                </a:solidFill>
                <a:latin typeface="Calibri"/>
              </a:rPr>
              <a:t> will score lower in a real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D2B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30352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100"/>
              </a:spcAft>
              <a:buChar char="•"/>
            </a:pPr>
            <a:r>
              <a:rPr b="1" sz="1700">
                <a:solidFill>
                  <a:srgbClr val="222222"/>
                </a:solidFill>
                <a:latin typeface="Calibri"/>
              </a:rPr>
              <a:t>Add a weather forecast</a:t>
            </a:r>
            <a:r>
              <a:rPr sz="1700">
                <a:solidFill>
                  <a:srgbClr val="222222"/>
                </a:solidFill>
                <a:latin typeface="Calibri"/>
              </a:rPr>
              <a:t> so the season is not a scenario.</a:t>
            </a:r>
          </a:p>
          <a:p>
            <a:pPr marL="285750" indent="-285750">
              <a:spcAft>
                <a:spcPts val="1100"/>
              </a:spcAft>
              <a:buChar char="•"/>
            </a:pPr>
            <a:r>
              <a:rPr b="1" sz="1700">
                <a:solidFill>
                  <a:srgbClr val="222222"/>
                </a:solidFill>
                <a:latin typeface="Calibri"/>
              </a:rPr>
              <a:t>Use Sentinel-2 or field-level NDVI</a:t>
            </a:r>
            <a:r>
              <a:rPr sz="1700">
                <a:solidFill>
                  <a:srgbClr val="222222"/>
                </a:solidFill>
                <a:latin typeface="Calibri"/>
              </a:rPr>
              <a:t> for recent years.</a:t>
            </a:r>
          </a:p>
          <a:p>
            <a:pPr marL="285750" indent="-285750">
              <a:spcAft>
                <a:spcPts val="1100"/>
              </a:spcAft>
              <a:buChar char="•"/>
            </a:pPr>
            <a:r>
              <a:rPr b="1" sz="1700">
                <a:solidFill>
                  <a:srgbClr val="222222"/>
                </a:solidFill>
                <a:latin typeface="Calibri"/>
              </a:rPr>
              <a:t>Collect field data</a:t>
            </a:r>
            <a:r>
              <a:rPr sz="1700">
                <a:solidFill>
                  <a:srgbClr val="222222"/>
                </a:solidFill>
                <a:latin typeface="Calibri"/>
              </a:rPr>
              <a:t> with disease severity and yield together to fit the loss factors.</a:t>
            </a:r>
          </a:p>
          <a:p>
            <a:pPr marL="285750" indent="-285750">
              <a:spcAft>
                <a:spcPts val="1100"/>
              </a:spcAft>
              <a:buChar char="•"/>
            </a:pPr>
            <a:r>
              <a:rPr b="1" sz="1700">
                <a:solidFill>
                  <a:srgbClr val="222222"/>
                </a:solidFill>
                <a:latin typeface="Calibri"/>
              </a:rPr>
              <a:t>Add more districts and crops</a:t>
            </a:r>
            <a:r>
              <a:rPr sz="1700">
                <a:solidFill>
                  <a:srgbClr val="222222"/>
                </a:solidFill>
                <a:latin typeface="Calibri"/>
              </a:rPr>
              <a:t> and a mid-season update as NDVI arrives.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D2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Crop Yield Outlook  |  Predictive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800"/>
              </a:spcAft>
              <a:buChar char="•"/>
            </a:pPr>
            <a:r>
              <a:rPr b="1" sz="2000">
                <a:solidFill>
                  <a:srgbClr val="222222"/>
                </a:solidFill>
                <a:latin typeface="Calibri"/>
              </a:rPr>
              <a:t>The product:</a:t>
            </a:r>
            <a:r>
              <a:rPr sz="2000">
                <a:solidFill>
                  <a:srgbClr val="222222"/>
                </a:solidFill>
                <a:latin typeface="Calibri"/>
              </a:rPr>
              <a:t> crop + location + season in, probability of a Good, Average or Poor yield out, with an expected yield and reasons.</a:t>
            </a:r>
          </a:p>
          <a:p>
            <a:pPr marL="285750" indent="-285750">
              <a:spcAft>
                <a:spcPts val="1800"/>
              </a:spcAft>
              <a:buChar char="•"/>
            </a:pPr>
            <a:r>
              <a:rPr b="1" sz="2000">
                <a:solidFill>
                  <a:srgbClr val="222222"/>
                </a:solidFill>
                <a:latin typeface="Calibri"/>
              </a:rPr>
              <a:t>The evidence:</a:t>
            </a:r>
            <a:r>
              <a:rPr sz="2000">
                <a:solidFill>
                  <a:srgbClr val="222222"/>
                </a:solidFill>
                <a:latin typeface="Calibri"/>
              </a:rPr>
              <a:t> Logistic Regression reaches 65.6% accuracy and 0.83 AUC on 2014-2017, against 62.3% for a location-only baseline.</a:t>
            </a:r>
          </a:p>
          <a:p>
            <a:pPr marL="285750" indent="-285750">
              <a:spcAft>
                <a:spcPts val="1800"/>
              </a:spcAft>
              <a:buChar char="•"/>
            </a:pPr>
            <a:r>
              <a:rPr b="1" sz="2000">
                <a:solidFill>
                  <a:srgbClr val="222222"/>
                </a:solidFill>
                <a:latin typeface="Calibri"/>
              </a:rPr>
              <a:t>The support:</a:t>
            </a:r>
            <a:r>
              <a:rPr sz="2000">
                <a:solidFill>
                  <a:srgbClr val="222222"/>
                </a:solidFill>
                <a:latin typeface="Calibri"/>
              </a:rPr>
              <a:t> a MobileNetV2 CNN identifies maize leaf diseases at 93.9% on held-out photos, and feeds an adjusted outlook.</a:t>
            </a:r>
          </a:p>
          <a:p>
            <a:pPr marL="285750" indent="-285750">
              <a:spcAft>
                <a:spcPts val="1800"/>
              </a:spcAft>
              <a:buChar char="•"/>
            </a:pPr>
            <a:r>
              <a:rPr b="1" sz="2000">
                <a:solidFill>
                  <a:srgbClr val="222222"/>
                </a:solidFill>
                <a:latin typeface="Calibri"/>
              </a:rPr>
              <a:t>The caution:</a:t>
            </a:r>
            <a:r>
              <a:rPr sz="2000">
                <a:solidFill>
                  <a:srgbClr val="222222"/>
                </a:solidFill>
                <a:latin typeface="Calibri"/>
              </a:rPr>
              <a:t> results are district-level and tested on four years. Confident predictions are the ones to rely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u="sng">
                <a:solidFill>
                  <a:srgbClr val="2F6B3A"/>
                </a:solidFill>
                <a:latin typeface="Calibri"/>
                <a:hlinkClick r:id="rId3"/>
              </a:rPr>
              <a:t>Code and notebooks: github.com/Kiwi-Supreme/CropYield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